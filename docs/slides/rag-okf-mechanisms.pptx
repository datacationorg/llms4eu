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500" b="1">
                <a:solidFill>
                  <a:srgbClr val="F5F9FD"/>
                </a:solidFill>
                <a:latin typeface="Aptos Display"/>
              </a:rPr>
              <a:t>RAG: retrieve and rerank chunks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103327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50" b="0">
                <a:solidFill>
                  <a:srgbClr val="A4B8CC"/>
                </a:solidFill>
                <a:latin typeface="Aptos"/>
              </a:rPr>
              <a:t>Lexical + semantic retrieval over the same page chunks.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61320" y="274320"/>
            <a:ext cx="1051560" cy="457200"/>
          </a:xfrm>
          <a:prstGeom prst="roundRect">
            <a:avLst/>
          </a:prstGeom>
          <a:solidFill>
            <a:srgbClr val="3F92F5"/>
          </a:solidFill>
          <a:ln w="12700">
            <a:solidFill>
              <a:srgbClr val="3F9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61320" y="274320"/>
            <a:ext cx="10515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A1626"/>
                </a:solidFill>
                <a:latin typeface="Aptos"/>
              </a:rPr>
              <a:t>1/2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2487168" cy="1874519"/>
          </a:xfrm>
          <a:prstGeom prst="roundRect">
            <a:avLst/>
          </a:prstGeom>
          <a:solidFill>
            <a:srgbClr val="17283D"/>
          </a:solidFill>
          <a:ln w="12700">
            <a:solidFill>
              <a:srgbClr val="415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3F9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A1626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1609344"/>
            <a:ext cx="171907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F5F9FD"/>
                </a:solidFill>
                <a:latin typeface="Aptos"/>
              </a:rPr>
              <a:t>Chunk +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148840"/>
            <a:ext cx="2194560" cy="10698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4B8CC"/>
                </a:solidFill>
                <a:latin typeface="Aptos"/>
              </a:rPr>
              <a:t>Split pages; build BM25 and embedding indexes.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08376" y="2423160"/>
            <a:ext cx="347472" cy="0"/>
          </a:xfrm>
          <a:prstGeom prst="line">
            <a:avLst/>
          </a:prstGeom>
          <a:ln w="29209">
            <a:solidFill>
              <a:srgbClr val="32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01568" y="1481328"/>
            <a:ext cx="2487168" cy="1874519"/>
          </a:xfrm>
          <a:prstGeom prst="roundRect">
            <a:avLst/>
          </a:prstGeom>
          <a:solidFill>
            <a:srgbClr val="17283D"/>
          </a:solidFill>
          <a:ln w="12700">
            <a:solidFill>
              <a:srgbClr val="415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38728" y="1645920"/>
            <a:ext cx="384048" cy="384048"/>
          </a:xfrm>
          <a:prstGeom prst="ellipse">
            <a:avLst/>
          </a:prstGeom>
          <a:solidFill>
            <a:srgbClr val="32C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1645920"/>
            <a:ext cx="3840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A1626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1609344"/>
            <a:ext cx="171907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F5F9FD"/>
                </a:solidFill>
                <a:latin typeface="Aptos"/>
              </a:rPr>
              <a:t>Hybrid retrieve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148840"/>
            <a:ext cx="2194560" cy="10698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4B8CC"/>
                </a:solidFill>
                <a:latin typeface="Aptos"/>
              </a:rPr>
              <a:t>Fuse dense and sparse candidate scores.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07024" y="2423160"/>
            <a:ext cx="347472" cy="0"/>
          </a:xfrm>
          <a:prstGeom prst="line">
            <a:avLst/>
          </a:prstGeom>
          <a:ln w="29209">
            <a:solidFill>
              <a:srgbClr val="32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0216" y="1481328"/>
            <a:ext cx="2487168" cy="1874519"/>
          </a:xfrm>
          <a:prstGeom prst="roundRect">
            <a:avLst/>
          </a:prstGeom>
          <a:solidFill>
            <a:srgbClr val="17283D"/>
          </a:solidFill>
          <a:ln w="12700">
            <a:solidFill>
              <a:srgbClr val="415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37376" y="1645920"/>
            <a:ext cx="384048" cy="384048"/>
          </a:xfrm>
          <a:prstGeom prst="ellipse">
            <a:avLst/>
          </a:prstGeom>
          <a:solidFill>
            <a:srgbClr val="3CC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1645920"/>
            <a:ext cx="3840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A1626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7" y="1609344"/>
            <a:ext cx="171907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F5F9FD"/>
                </a:solidFill>
                <a:latin typeface="Aptos"/>
              </a:rPr>
              <a:t>Rerank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148840"/>
            <a:ext cx="2194560" cy="10698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4B8CC"/>
                </a:solidFill>
                <a:latin typeface="Aptos"/>
              </a:rPr>
              <a:t>Qwen3 cross-encoder or Azure Cohere v4 reorders 30 candidates.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05672" y="2423160"/>
            <a:ext cx="347472" cy="0"/>
          </a:xfrm>
          <a:prstGeom prst="line">
            <a:avLst/>
          </a:prstGeom>
          <a:ln w="29209">
            <a:solidFill>
              <a:srgbClr val="32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98864" y="1481328"/>
            <a:ext cx="2487168" cy="1874519"/>
          </a:xfrm>
          <a:prstGeom prst="roundRect">
            <a:avLst/>
          </a:prstGeom>
          <a:solidFill>
            <a:srgbClr val="17283D"/>
          </a:solidFill>
          <a:ln w="12700">
            <a:solidFill>
              <a:srgbClr val="415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36024" y="1645920"/>
            <a:ext cx="384048" cy="384048"/>
          </a:xfrm>
          <a:prstGeom prst="ellipse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36024" y="1645920"/>
            <a:ext cx="3840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A1626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0656" y="1609344"/>
            <a:ext cx="171907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F5F9FD"/>
                </a:solidFill>
                <a:latin typeface="Aptos"/>
              </a:rPr>
              <a:t>Optional retry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168" y="2148840"/>
            <a:ext cx="2194560" cy="10698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4B8CC"/>
                </a:solidFill>
                <a:latin typeface="Aptos"/>
              </a:rPr>
              <a:t>Judge sufficiency; rewrite or retrieve more.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749039"/>
            <a:ext cx="7406640" cy="1554480"/>
          </a:xfrm>
          <a:prstGeom prst="roundRect">
            <a:avLst/>
          </a:prstGeom>
          <a:solidFill>
            <a:srgbClr val="1D324A"/>
          </a:solidFill>
          <a:ln w="12700">
            <a:solidFill>
              <a:srgbClr val="3F9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3950208"/>
            <a:ext cx="21945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3F92F5"/>
                </a:solidFill>
                <a:latin typeface="Aptos"/>
              </a:rPr>
              <a:t>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279392"/>
            <a:ext cx="6812280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F5F9FD"/>
                </a:solidFill>
                <a:latin typeface="Aptos"/>
              </a:rPr>
              <a:t>A ranked list of source chunk IDs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4736592"/>
            <a:ext cx="681228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A4B8CC"/>
                </a:solidFill>
                <a:latin typeface="Aptos"/>
              </a:rPr>
              <a:t>Evaluation uses exact chunk relevance: hit@K, recall@K, MRR@K.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74736" y="3749039"/>
            <a:ext cx="3511296" cy="1554480"/>
          </a:xfrm>
          <a:prstGeom prst="roundRect">
            <a:avLst/>
          </a:prstGeom>
          <a:solidFill>
            <a:srgbClr val="26221D"/>
          </a:solidFill>
          <a:ln w="12700">
            <a:solidFill>
              <a:srgbClr val="F5B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3950208"/>
            <a:ext cx="3017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F5B142"/>
                </a:solidFill>
                <a:latin typeface="Aptos"/>
              </a:rPr>
              <a:t>WHY THE AGENT?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297680"/>
            <a:ext cx="301752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1">
                <a:solidFill>
                  <a:srgbClr val="F5F9FD"/>
                </a:solidFill>
                <a:latin typeface="Aptos"/>
              </a:rPr>
              <a:t>Spend extra retrieval calls only when the first evidence set appears insufficient.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5733288"/>
            <a:ext cx="111099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32C6D6"/>
                </a:solidFill>
                <a:latin typeface="Aptos"/>
              </a:rPr>
              <a:t>query → BM25 + embeddings → fusion → reranker → ranked chunks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6245352"/>
            <a:ext cx="1110996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0">
                <a:solidFill>
                  <a:srgbClr val="A4B8CC"/>
                </a:solidFill>
                <a:latin typeface="Aptos"/>
              </a:rPr>
              <a:t>Parameters: chunks 1,800 chars (300–2,600) • fusion 0.7/0.3 • rerank 30→10 • retry 10→15→20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500" b="1">
                <a:solidFill>
                  <a:srgbClr val="F5F9FD"/>
                </a:solidFill>
                <a:latin typeface="Aptos Display"/>
              </a:rPr>
              <a:t>OKF: generate concepts, then navigate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103327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50" b="0">
                <a:solidFill>
                  <a:srgbClr val="A4B8CC"/>
                </a:solidFill>
                <a:latin typeface="Aptos"/>
              </a:rPr>
              <a:t>Retrieval follows a linked Markdown knowledge bundle.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61320" y="274320"/>
            <a:ext cx="1051560" cy="457200"/>
          </a:xfrm>
          <a:prstGeom prst="roundRect">
            <a:avLst/>
          </a:prstGeom>
          <a:solidFill>
            <a:srgbClr val="3CC389"/>
          </a:solidFill>
          <a:ln w="12700">
            <a:solidFill>
              <a:srgbClr val="3CC3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61320" y="274320"/>
            <a:ext cx="10515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A1626"/>
                </a:solidFill>
                <a:latin typeface="Aptos"/>
              </a:rPr>
              <a:t>2/2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321808" cy="3291840"/>
          </a:xfrm>
          <a:prstGeom prst="roundRect">
            <a:avLst/>
          </a:prstGeom>
          <a:solidFill>
            <a:srgbClr val="17283D"/>
          </a:solidFill>
          <a:ln w="12700">
            <a:solidFill>
              <a:srgbClr val="3CC3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536192"/>
            <a:ext cx="4828032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3CC389"/>
                </a:solidFill>
                <a:latin typeface="Aptos"/>
              </a:rPr>
              <a:t>A  OFFLINE: BUILD THE BUNDLE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002536"/>
            <a:ext cx="4526280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5F9FD"/>
                </a:solidFill>
                <a:latin typeface="Aptos"/>
              </a:rPr>
              <a:t>Source pages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08376" y="2468880"/>
            <a:ext cx="0" cy="320040"/>
          </a:xfrm>
          <a:prstGeom prst="line">
            <a:avLst/>
          </a:prstGeom>
          <a:ln w="29209">
            <a:solidFill>
              <a:srgbClr val="3CC3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32688" y="2816352"/>
            <a:ext cx="41605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50" b="1">
                <a:solidFill>
                  <a:srgbClr val="F5F9FD"/>
                </a:solidFill>
                <a:latin typeface="Aptos"/>
              </a:rPr>
              <a:t>Discover one concept per page, merge duplicates, then write concept Markdown.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08376" y="3602736"/>
            <a:ext cx="0" cy="274320"/>
          </a:xfrm>
          <a:prstGeom prst="line">
            <a:avLst/>
          </a:prstGeom>
          <a:ln w="29209">
            <a:solidFill>
              <a:srgbClr val="3CC3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60120" y="3913632"/>
            <a:ext cx="411480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A4B8CC"/>
                </a:solidFill>
                <a:latin typeface="Aptos"/>
              </a:rPr>
              <a:t>Indexes + concepts + provenance + citations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325880"/>
            <a:ext cx="5605272" cy="3291840"/>
          </a:xfrm>
          <a:prstGeom prst="roundRect">
            <a:avLst/>
          </a:prstGeom>
          <a:solidFill>
            <a:srgbClr val="17283D"/>
          </a:solidFill>
          <a:ln w="12700">
            <a:solidFill>
              <a:srgbClr val="F5B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536192"/>
            <a:ext cx="51206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F5B142"/>
                </a:solidFill>
                <a:latin typeface="Aptos"/>
              </a:rPr>
              <a:t>B  ONLINE: NAVIGATE THE BUNDLE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984248"/>
            <a:ext cx="4919472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F5F9FD"/>
                </a:solidFill>
                <a:latin typeface="Aptos"/>
              </a:rPr>
              <a:t>Start at index.md and repeatedly choose: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688336"/>
            <a:ext cx="1417320" cy="530352"/>
          </a:xfrm>
          <a:prstGeom prst="roundRect">
            <a:avLst/>
          </a:prstGeom>
          <a:solidFill>
            <a:srgbClr val="3F92F5"/>
          </a:solidFill>
          <a:ln w="12700">
            <a:solidFill>
              <a:srgbClr val="3F9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688336"/>
            <a:ext cx="14173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0A1626"/>
                </a:solidFill>
                <a:latin typeface="Aptos"/>
              </a:rPr>
              <a:t>OPEN LINK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688336"/>
            <a:ext cx="1417320" cy="530352"/>
          </a:xfrm>
          <a:prstGeom prst="roundRect">
            <a:avLst/>
          </a:prstGeom>
          <a:solidFill>
            <a:srgbClr val="3CC389"/>
          </a:solidFill>
          <a:ln w="12700">
            <a:solidFill>
              <a:srgbClr val="3CC3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688336"/>
            <a:ext cx="14173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0A1626"/>
                </a:solidFill>
                <a:latin typeface="Aptos"/>
              </a:rPr>
              <a:t>ANSWER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6960" y="2688336"/>
            <a:ext cx="1417320" cy="530352"/>
          </a:xfrm>
          <a:prstGeom prst="roundRect">
            <a:avLst/>
          </a:prstGeom>
          <a:solidFill>
            <a:srgbClr val="F5B142"/>
          </a:solidFill>
          <a:ln w="12700">
            <a:solidFill>
              <a:srgbClr val="F5B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2688336"/>
            <a:ext cx="14173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0A1626"/>
                </a:solidFill>
                <a:latin typeface="Aptos"/>
              </a:rPr>
              <a:t>ABSTAIN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465576"/>
            <a:ext cx="489204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50" b="1">
                <a:solidFill>
                  <a:srgbClr val="F5F9FD"/>
                </a:solidFill>
                <a:latin typeface="Aptos"/>
              </a:rPr>
              <a:t>Open only advertised links; cite an opened concept.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041648"/>
            <a:ext cx="48920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20" b="1">
                <a:solidFill>
                  <a:srgbClr val="F5B142"/>
                </a:solidFill>
                <a:latin typeface="Aptos"/>
              </a:rPr>
              <a:t>Budget: ≤12 model decisions • ≤8 concepts • ≤60k context chars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910328"/>
            <a:ext cx="11183112" cy="1188720"/>
          </a:xfrm>
          <a:prstGeom prst="roundRect">
            <a:avLst/>
          </a:prstGeom>
          <a:solidFill>
            <a:srgbClr val="1D324A"/>
          </a:solidFill>
          <a:ln w="12700">
            <a:solidFill>
              <a:srgbClr val="32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102352"/>
            <a:ext cx="182880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32C6D6"/>
                </a:solidFill>
                <a:latin typeface="Aptos"/>
              </a:rPr>
              <a:t>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404104"/>
            <a:ext cx="480060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F5F9FD"/>
                </a:solidFill>
                <a:latin typeface="Aptos"/>
              </a:rPr>
              <a:t>Ranked concepts: cited, then visited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87568" y="5522976"/>
            <a:ext cx="484632" cy="0"/>
          </a:xfrm>
          <a:prstGeom prst="line">
            <a:avLst/>
          </a:prstGeom>
          <a:ln w="29209">
            <a:solidFill>
              <a:srgbClr val="32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382512" y="5102352"/>
            <a:ext cx="178308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32C6D6"/>
                </a:solidFill>
                <a:latin typeface="Aptos"/>
              </a:rPr>
              <a:t>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5404104"/>
            <a:ext cx="4919472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50" b="1">
                <a:solidFill>
                  <a:srgbClr val="F5F9FD"/>
                </a:solidFill>
                <a:latin typeface="Aptos"/>
              </a:rPr>
              <a:t>Gold chunk → page → concept; hit@K = concept match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6254496"/>
            <a:ext cx="1110996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0">
                <a:solidFill>
                  <a:srgbClr val="A4B8CC"/>
                </a:solidFill>
                <a:latin typeface="Aptos"/>
              </a:rPr>
              <a:t>Parameters: page parts ≤30k chars • indexes ≤20 entries/group • navigation ≤12 steps, ≤8 concepts, ≤60k chars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