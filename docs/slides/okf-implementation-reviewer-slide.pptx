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964692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050" b="1">
                <a:solidFill>
                  <a:srgbClr val="F2F7FC"/>
                </a:solidFill>
                <a:latin typeface="Aptos Display"/>
              </a:rPr>
              <a:t>OKF in this system: generation, constrained navigation, and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95560" y="228600"/>
            <a:ext cx="1572768" cy="2743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0B1423"/>
                </a:solidFill>
                <a:latin typeface="Aptos"/>
              </a:rPr>
              <a:t>IMPLEMENTED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03504"/>
            <a:ext cx="11155680" cy="2743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50" b="0">
                <a:solidFill>
                  <a:srgbClr val="A6B8CB"/>
                </a:solidFill>
                <a:latin typeface="Aptos"/>
              </a:rPr>
              <a:t>A model-generated Markdown knowledge hierarchy; retrieval is link-constrained agentic navigation—not vector search.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OFFLINE BUNDLE CONSTRUCTION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234440"/>
            <a:ext cx="2084831" cy="1143000"/>
          </a:xfrm>
          <a:prstGeom prst="roundRect">
            <a:avLst/>
          </a:prstGeom>
          <a:solidFill>
            <a:srgbClr val="152337"/>
          </a:solidFill>
          <a:ln w="12700">
            <a:solidFill>
              <a:srgbClr val="445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91440" bIns="91440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38BDF8"/>
                </a:solidFill>
                <a:latin typeface="Aptos Display"/>
              </a:rPr>
              <a:t>1  Source</a:t>
            </a:r>
          </a:p>
          <a:p>
            <a:pPr>
              <a:spcAft>
                <a:spcPts val="200"/>
              </a:spcAft>
              <a:defRPr sz="1019">
                <a:solidFill>
                  <a:srgbClr val="F2F7FC"/>
                </a:solidFill>
                <a:latin typeface="Aptos"/>
              </a:defRPr>
            </a:pPr>
            <a:r>
              <a:t>Complete Markdown from pages.db</a:t>
            </a:r>
          </a:p>
          <a:p>
            <a:pPr>
              <a:spcAft>
                <a:spcPts val="200"/>
              </a:spcAft>
              <a:defRPr sz="1019">
                <a:solidFill>
                  <a:srgbClr val="F2F7FC"/>
                </a:solidFill>
                <a:latin typeface="Aptos"/>
              </a:defRPr>
            </a:pPr>
            <a:r>
              <a:t>Long pages split at ≤30k chars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15768" y="1234440"/>
            <a:ext cx="2084831" cy="1143000"/>
          </a:xfrm>
          <a:prstGeom prst="roundRect">
            <a:avLst/>
          </a:prstGeom>
          <a:solidFill>
            <a:srgbClr val="152337"/>
          </a:solidFill>
          <a:ln w="12700">
            <a:solidFill>
              <a:srgbClr val="445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91440" bIns="91440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38BDF8"/>
                </a:solidFill>
                <a:latin typeface="Aptos Display"/>
              </a:rPr>
              <a:t>2  Discover</a:t>
            </a:r>
          </a:p>
          <a:p>
            <a:pPr>
              <a:spcAft>
                <a:spcPts val="200"/>
              </a:spcAft>
              <a:defRPr sz="1019">
                <a:solidFill>
                  <a:srgbClr val="F2F7FC"/>
                </a:solidFill>
                <a:latin typeface="Aptos"/>
              </a:defRPr>
            </a:pPr>
            <a:r>
              <a:t>Azure proposes one primary concept/page</a:t>
            </a:r>
          </a:p>
          <a:p>
            <a:pPr>
              <a:spcAft>
                <a:spcPts val="200"/>
              </a:spcAft>
              <a:defRPr sz="1019">
                <a:solidFill>
                  <a:srgbClr val="F2F7FC"/>
                </a:solidFill>
                <a:latin typeface="Aptos"/>
              </a:defRPr>
            </a:pPr>
            <a:r>
              <a:t>type + title + description + 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01768" y="1234440"/>
            <a:ext cx="2084831" cy="1143000"/>
          </a:xfrm>
          <a:prstGeom prst="roundRect">
            <a:avLst/>
          </a:prstGeom>
          <a:solidFill>
            <a:srgbClr val="152337"/>
          </a:solidFill>
          <a:ln w="12700">
            <a:solidFill>
              <a:srgbClr val="445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91440" bIns="91440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2DD4BF"/>
                </a:solidFill>
                <a:latin typeface="Aptos Display"/>
              </a:rPr>
              <a:t>3  Canonicalize</a:t>
            </a:r>
          </a:p>
          <a:p>
            <a:pPr>
              <a:spcAft>
                <a:spcPts val="200"/>
              </a:spcAft>
              <a:defRPr sz="1019">
                <a:solidFill>
                  <a:srgbClr val="F2F7FC"/>
                </a:solidFill>
                <a:latin typeface="Aptos"/>
              </a:defRPr>
            </a:pPr>
            <a:r>
              <a:t>Exact normalized title/type match</a:t>
            </a:r>
          </a:p>
          <a:p>
            <a:pPr>
              <a:spcAft>
                <a:spcPts val="200"/>
              </a:spcAft>
              <a:defRPr sz="1019">
                <a:solidFill>
                  <a:srgbClr val="F2F7FC"/>
                </a:solidFill>
                <a:latin typeface="Aptos"/>
              </a:defRPr>
            </a:pPr>
            <a:r>
              <a:t>Batched LLM resolution to global catalog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87768" y="1234440"/>
            <a:ext cx="2084831" cy="1143000"/>
          </a:xfrm>
          <a:prstGeom prst="roundRect">
            <a:avLst/>
          </a:prstGeom>
          <a:solidFill>
            <a:srgbClr val="152337"/>
          </a:solidFill>
          <a:ln w="12700">
            <a:solidFill>
              <a:srgbClr val="445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91440" bIns="91440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2DD4BF"/>
                </a:solidFill>
                <a:latin typeface="Aptos Display"/>
              </a:rPr>
              <a:t>4  Enrich</a:t>
            </a:r>
          </a:p>
          <a:p>
            <a:pPr>
              <a:spcAft>
                <a:spcPts val="200"/>
              </a:spcAft>
              <a:defRPr sz="1019">
                <a:solidFill>
                  <a:srgbClr val="F2F7FC"/>
                </a:solidFill>
                <a:latin typeface="Aptos"/>
              </a:defRPr>
            </a:pPr>
            <a:r>
              <a:t>Merge assigned pages into concept Markdown</a:t>
            </a:r>
          </a:p>
          <a:p>
            <a:pPr>
              <a:spcAft>
                <a:spcPts val="200"/>
              </a:spcAft>
              <a:defRPr sz="1019">
                <a:solidFill>
                  <a:srgbClr val="F2F7FC"/>
                </a:solidFill>
                <a:latin typeface="Aptos"/>
              </a:defRPr>
            </a:pPr>
            <a:r>
              <a:t>Retain source_page_ids + citations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73768" y="1234440"/>
            <a:ext cx="2084831" cy="1143000"/>
          </a:xfrm>
          <a:prstGeom prst="roundRect">
            <a:avLst/>
          </a:prstGeom>
          <a:solidFill>
            <a:srgbClr val="152337"/>
          </a:solidFill>
          <a:ln w="12700">
            <a:solidFill>
              <a:srgbClr val="445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91440" bIns="91440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BBF24"/>
                </a:solidFill>
                <a:latin typeface="Aptos Display"/>
              </a:rPr>
              <a:t>5  Index + validate</a:t>
            </a:r>
          </a:p>
          <a:p>
            <a:pPr>
              <a:spcAft>
                <a:spcPts val="200"/>
              </a:spcAft>
              <a:defRPr sz="1019">
                <a:solidFill>
                  <a:srgbClr val="F2F7FC"/>
                </a:solidFill>
                <a:latin typeface="Aptos"/>
              </a:defRPr>
            </a:pPr>
            <a:r>
              <a:t>Bottom-up link indexes; 20 entries/group</a:t>
            </a:r>
          </a:p>
          <a:p>
            <a:pPr>
              <a:spcAft>
                <a:spcPts val="200"/>
              </a:spcAft>
              <a:defRPr sz="1019">
                <a:solidFill>
                  <a:srgbClr val="F2F7FC"/>
                </a:solidFill>
                <a:latin typeface="Aptos"/>
              </a:defRPr>
            </a:pPr>
            <a:r>
              <a:t>Schema, containment, and link checks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14600" y="1805940"/>
            <a:ext cx="201168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800600" y="1805940"/>
            <a:ext cx="201168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086600" y="1805940"/>
            <a:ext cx="201168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372600" y="1805940"/>
            <a:ext cx="201168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29768" y="2615184"/>
            <a:ext cx="228600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ONLINE RETRIEVAL POLICY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2889504"/>
            <a:ext cx="2907792" cy="2176272"/>
          </a:xfrm>
          <a:prstGeom prst="roundRect">
            <a:avLst/>
          </a:prstGeom>
          <a:solidFill>
            <a:srgbClr val="152337"/>
          </a:solidFill>
          <a:ln w="12700">
            <a:solidFill>
              <a:srgbClr val="445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91440" bIns="9144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2DD4BF"/>
                </a:solidFill>
                <a:latin typeface="Aptos Display"/>
              </a:rPr>
              <a:t>Bundle artifact</a:t>
            </a:r>
          </a:p>
          <a:p>
            <a:pPr>
              <a:spcAft>
                <a:spcPts val="200"/>
              </a:spcAft>
              <a:defRPr sz="1050">
                <a:solidFill>
                  <a:srgbClr val="F2F7FC"/>
                </a:solidFill>
                <a:latin typeface="Aptos"/>
              </a:defRPr>
            </a:pPr>
            <a:r>
              <a:t>index.md files route by title + description</a:t>
            </a:r>
          </a:p>
          <a:p>
            <a:pPr>
              <a:spcAft>
                <a:spcPts val="200"/>
              </a:spcAft>
              <a:defRPr sz="1050">
                <a:solidFill>
                  <a:srgbClr val="F2F7FC"/>
                </a:solidFill>
                <a:latin typeface="Aptos"/>
              </a:defRPr>
            </a:pPr>
            <a:r>
              <a:t>Concept files: YAML metadata + factual body + # Citations</a:t>
            </a:r>
          </a:p>
          <a:p>
            <a:pPr>
              <a:spcAft>
                <a:spcPts val="200"/>
              </a:spcAft>
              <a:defRPr sz="1050">
                <a:solidFill>
                  <a:srgbClr val="F2F7FC"/>
                </a:solidFill>
                <a:latin typeface="Aptos"/>
              </a:defRPr>
            </a:pPr>
            <a:r>
              <a:t>Indexes are routing hints; only opened concepts are evidence</a:t>
            </a:r>
          </a:p>
          <a:p>
            <a:pPr>
              <a:spcAft>
                <a:spcPts val="200"/>
              </a:spcAft>
              <a:defRPr sz="1050">
                <a:solidFill>
                  <a:srgbClr val="F2F7FC"/>
                </a:solidFill>
                <a:latin typeface="Aptos"/>
              </a:defRPr>
            </a:pPr>
            <a:r>
              <a:t>No BM25/vector shortlist participates in OKF navigation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47872" y="2889504"/>
            <a:ext cx="4782312" cy="2176272"/>
          </a:xfrm>
          <a:prstGeom prst="roundRect">
            <a:avLst/>
          </a:prstGeom>
          <a:solidFill>
            <a:srgbClr val="1C2E45"/>
          </a:solidFill>
          <a:ln w="1778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30752" y="3035808"/>
            <a:ext cx="438912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Aptos"/>
              </a:rPr>
              <a:t>Constrained progressive disclosure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30752" y="3383280"/>
            <a:ext cx="4370832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300" b="0">
                <a:solidFill>
                  <a:srgbClr val="F2F7FC"/>
                </a:solidFill>
                <a:latin typeface="Aptos Mono"/>
              </a:rPr>
              <a:t>sₜ = {opened files, advertised links, remaining context}
πθ(aₜ | q, sₜ),   aₜ ∈ {open(path), answer, abstain}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85615" y="3913632"/>
            <a:ext cx="4251960" cy="7132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40" b="0">
                <a:solidFill>
                  <a:srgbClr val="F2F7FC"/>
                </a:solidFill>
                <a:latin typeface="Aptos"/>
              </a:rPr>
              <a:t>Safety/validity constraints
• open only existing advertised relative .md links
• answer requires ≥1 citation to an opened concept
• invalid/revisited path ⇒ abstain; large files use query-focused excerpts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67912" y="4617720"/>
            <a:ext cx="4133087" cy="310896"/>
          </a:xfrm>
          <a:prstGeom prst="roundRect">
            <a:avLst/>
          </a:prstGeom>
          <a:solidFill>
            <a:srgbClr val="0F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86200" y="4636008"/>
            <a:ext cx="4096512" cy="237744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019" b="1">
                <a:solidFill>
                  <a:srgbClr val="F2F7FC"/>
                </a:solidFill>
                <a:latin typeface="Aptos"/>
              </a:rPr>
              <a:t>T ≤ 12 model decisions   •   D ≤ 8 concepts   •   C ≤ 60k chars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40496" y="2889504"/>
            <a:ext cx="3218688" cy="2176272"/>
          </a:xfrm>
          <a:prstGeom prst="roundRect">
            <a:avLst/>
          </a:prstGeom>
          <a:solidFill>
            <a:srgbClr val="152337"/>
          </a:solidFill>
          <a:ln w="12700">
            <a:solidFill>
              <a:srgbClr val="445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91440" bIns="91440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FBBF24"/>
                </a:solidFill>
                <a:latin typeface="Aptos Display"/>
              </a:rPr>
              <a:t>Retrieval output + scoring</a:t>
            </a:r>
          </a:p>
          <a:p>
            <a:pPr>
              <a:spcAft>
                <a:spcPts val="200"/>
              </a:spcAft>
              <a:defRPr sz="1040">
                <a:solidFill>
                  <a:srgbClr val="F2F7FC"/>
                </a:solidFill>
                <a:latin typeface="Aptos"/>
              </a:defRPr>
            </a:pPr>
            <a:r>
              <a:t>Ranking = unique(cited concepts ⊕ visited concepts)</a:t>
            </a:r>
          </a:p>
          <a:p>
            <a:pPr>
              <a:spcAft>
                <a:spcPts val="200"/>
              </a:spcAft>
              <a:defRPr sz="1040">
                <a:solidFill>
                  <a:srgbClr val="F2F7FC"/>
                </a:solidFill>
                <a:latin typeface="Aptos"/>
              </a:defRPr>
            </a:pPr>
            <a:r>
              <a:t>Gold OKF IDs: chunk → source page → source_page_ids concept map</a:t>
            </a:r>
          </a:p>
          <a:p>
            <a:pPr>
              <a:spcAft>
                <a:spcPts val="200"/>
              </a:spcAft>
              <a:defRPr sz="1040">
                <a:solidFill>
                  <a:srgbClr val="F2F7FC"/>
                </a:solidFill>
                <a:latin typeface="Aptos"/>
              </a:defRPr>
            </a:pPr>
            <a:r>
              <a:t>Shared hit@K columns, but OKF hits are concept matches; RAG hits are exact chunk matches</a:t>
            </a:r>
          </a:p>
          <a:p>
            <a:pPr>
              <a:spcAft>
                <a:spcPts val="200"/>
              </a:spcAft>
              <a:defRPr sz="1040">
                <a:solidFill>
                  <a:srgbClr val="F2F7FC"/>
                </a:solidFill>
                <a:latin typeface="Aptos"/>
              </a:defRPr>
            </a:pPr>
            <a:r>
              <a:t>judge_hit@15 audits evidence equivalence separately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" y="5303520"/>
            <a:ext cx="2286000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00" b="1">
                <a:solidFill>
                  <a:srgbClr val="FBBF24"/>
                </a:solidFill>
                <a:latin typeface="Aptos"/>
              </a:rPr>
              <a:t>REVIEWER-RELEVANT ASSUMPTIONS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" y="5559552"/>
            <a:ext cx="11329416" cy="777240"/>
          </a:xfrm>
          <a:prstGeom prst="roundRect">
            <a:avLst/>
          </a:prstGeom>
          <a:solidFill>
            <a:srgbClr val="2B231E"/>
          </a:solidFill>
          <a:ln>
            <a:solidFill>
              <a:srgbClr val="705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" y="5650992"/>
            <a:ext cx="10954512" cy="512064"/>
          </a:xfrm>
          <a:prstGeom prst="rect">
            <a:avLst/>
          </a:prstGeom>
          <a:noFill/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050" b="0">
                <a:solidFill>
                  <a:srgbClr val="F2F7FC"/>
                </a:solidFill>
                <a:latin typeface="Aptos"/>
              </a:rPr>
              <a:t>Validity threats: one primary concept/page • LLM-assisted taxonomy and canonicalization • page-level, not claim-level, gold attribution
source_page_ids retained for evaluation compatibility • retrieval quality ≠ answer correctness or citation entailment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56248"/>
            <a:ext cx="112471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A6B8CB"/>
                </a:solidFill>
                <a:latin typeface="Aptos"/>
              </a:rPr>
              <a:t>Implementation: src/okf/{generate,bundle,answer,evidence}.py  |  Configuration: src/okf/config.yaml  |  OKF v0.1 tourism bundle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