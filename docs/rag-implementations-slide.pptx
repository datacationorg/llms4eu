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F5F9FD"/>
                </a:solidFill>
                <a:latin typeface="Aptos Display"/>
              </a:rPr>
              <a:t>RAG implementations: sparse, hybrid, reranked, agentic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03327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0">
                <a:solidFill>
                  <a:srgbClr val="A4B8CC"/>
                </a:solidFill>
                <a:latin typeface="Aptos"/>
              </a:rPr>
              <a:t>Four retrieval variants share the same chunk corpus and evaluation qrels.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274320"/>
            <a:ext cx="1051560" cy="457200"/>
          </a:xfrm>
          <a:prstGeom prst="roundRect">
            <a:avLst/>
          </a:prstGeom>
          <a:solidFill>
            <a:srgbClr val="3F92F5"/>
          </a:solidFill>
          <a:ln w="12700">
            <a:solidFill>
              <a:srgbClr val="3F9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61320" y="274320"/>
            <a:ext cx="10515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A1626"/>
                </a:solidFill>
                <a:latin typeface="Aptos"/>
              </a:rPr>
              <a:t>RAG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2487168" cy="1874519"/>
          </a:xfrm>
          <a:prstGeom prst="roundRect">
            <a:avLst/>
          </a:prstGeom>
          <a:solidFill>
            <a:srgbClr val="17283D"/>
          </a:solidFill>
          <a:ln w="12700">
            <a:solidFill>
              <a:srgbClr val="41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3F9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A1626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1609344"/>
            <a:ext cx="17190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5F9FD"/>
                </a:solidFill>
                <a:latin typeface="Aptos"/>
              </a:rPr>
              <a:t>Chunk +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148840"/>
            <a:ext cx="2194560" cy="1069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4B8CC"/>
                </a:solidFill>
                <a:latin typeface="Aptos"/>
              </a:rPr>
              <a:t>Split pages; build BM25 and embedding indexes.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08376" y="2423160"/>
            <a:ext cx="347472" cy="0"/>
          </a:xfrm>
          <a:prstGeom prst="line">
            <a:avLst/>
          </a:prstGeom>
          <a:ln w="29209">
            <a:solidFill>
              <a:srgbClr val="32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01568" y="1481328"/>
            <a:ext cx="2487168" cy="1874519"/>
          </a:xfrm>
          <a:prstGeom prst="roundRect">
            <a:avLst/>
          </a:prstGeom>
          <a:solidFill>
            <a:srgbClr val="17283D"/>
          </a:solidFill>
          <a:ln w="12700">
            <a:solidFill>
              <a:srgbClr val="41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8728" y="1645920"/>
            <a:ext cx="384048" cy="384048"/>
          </a:xfrm>
          <a:prstGeom prst="ellipse">
            <a:avLst/>
          </a:prstGeom>
          <a:solidFill>
            <a:srgbClr val="32C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164592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A1626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1609344"/>
            <a:ext cx="17190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5F9FD"/>
                </a:solidFill>
                <a:latin typeface="Aptos"/>
              </a:rPr>
              <a:t>Hybrid retrieve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148840"/>
            <a:ext cx="2194560" cy="1069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4B8CC"/>
                </a:solidFill>
                <a:latin typeface="Aptos"/>
              </a:rPr>
              <a:t>Fuse dense and sparse candidate scores.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07024" y="2423160"/>
            <a:ext cx="347472" cy="0"/>
          </a:xfrm>
          <a:prstGeom prst="line">
            <a:avLst/>
          </a:prstGeom>
          <a:ln w="29209">
            <a:solidFill>
              <a:srgbClr val="32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0216" y="1481328"/>
            <a:ext cx="2487168" cy="1874519"/>
          </a:xfrm>
          <a:prstGeom prst="roundRect">
            <a:avLst/>
          </a:prstGeom>
          <a:solidFill>
            <a:srgbClr val="17283D"/>
          </a:solidFill>
          <a:ln w="12700">
            <a:solidFill>
              <a:srgbClr val="41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37376" y="1645920"/>
            <a:ext cx="384048" cy="384048"/>
          </a:xfrm>
          <a:prstGeom prst="ellipse">
            <a:avLst/>
          </a:prstGeom>
          <a:solidFill>
            <a:srgbClr val="3CC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164592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A1626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7" y="1609344"/>
            <a:ext cx="17190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5F9FD"/>
                </a:solidFill>
                <a:latin typeface="Aptos"/>
              </a:rPr>
              <a:t>Rerank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148840"/>
            <a:ext cx="2194560" cy="1069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4B8CC"/>
                </a:solidFill>
                <a:latin typeface="Aptos"/>
              </a:rPr>
              <a:t>Qwen3 cross-encoder or Azure Cohere v4 reorders 30 candidates.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05672" y="2423160"/>
            <a:ext cx="347472" cy="0"/>
          </a:xfrm>
          <a:prstGeom prst="line">
            <a:avLst/>
          </a:prstGeom>
          <a:ln w="29209">
            <a:solidFill>
              <a:srgbClr val="32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98864" y="1481328"/>
            <a:ext cx="2487168" cy="1874519"/>
          </a:xfrm>
          <a:prstGeom prst="roundRect">
            <a:avLst/>
          </a:prstGeom>
          <a:solidFill>
            <a:srgbClr val="17283D"/>
          </a:solidFill>
          <a:ln w="12700">
            <a:solidFill>
              <a:srgbClr val="41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36024" y="1645920"/>
            <a:ext cx="384048" cy="384048"/>
          </a:xfrm>
          <a:prstGeom prst="ellipse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36024" y="164592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A1626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0656" y="1609344"/>
            <a:ext cx="17190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5F9FD"/>
                </a:solidFill>
                <a:latin typeface="Aptos"/>
              </a:rPr>
              <a:t>Optional retry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2148840"/>
            <a:ext cx="2194560" cy="1069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4B8CC"/>
                </a:solidFill>
                <a:latin typeface="Aptos"/>
              </a:rPr>
              <a:t>Judge sufficiency; rewrite or retrieve more.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749039"/>
            <a:ext cx="7406640" cy="1554480"/>
          </a:xfrm>
          <a:prstGeom prst="roundRect">
            <a:avLst/>
          </a:prstGeom>
          <a:solidFill>
            <a:srgbClr val="1D324A"/>
          </a:solidFill>
          <a:ln w="12700">
            <a:solidFill>
              <a:srgbClr val="3F9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95020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3F92F5"/>
                </a:solidFill>
                <a:latin typeface="Aptos"/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279392"/>
            <a:ext cx="681228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F5F9FD"/>
                </a:solidFill>
                <a:latin typeface="Aptos"/>
              </a:rPr>
              <a:t>A ranked list of source chunk IDs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736592"/>
            <a:ext cx="681228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A4B8CC"/>
                </a:solidFill>
                <a:latin typeface="Aptos"/>
              </a:rPr>
              <a:t>Evaluation uses exact chunk relevance: hit@K, recall@K, MRR@K.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74736" y="3749039"/>
            <a:ext cx="3511296" cy="1554480"/>
          </a:xfrm>
          <a:prstGeom prst="roundRect">
            <a:avLst/>
          </a:prstGeom>
          <a:solidFill>
            <a:srgbClr val="26221D"/>
          </a:solidFill>
          <a:ln w="12700">
            <a:solidFill>
              <a:srgbClr val="F5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3950208"/>
            <a:ext cx="3017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F5B142"/>
                </a:solidFill>
                <a:latin typeface="Aptos"/>
              </a:rPr>
              <a:t>WHY THE AGENT?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297680"/>
            <a:ext cx="301752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>
                <a:solidFill>
                  <a:srgbClr val="F5F9FD"/>
                </a:solidFill>
                <a:latin typeface="Aptos"/>
              </a:rPr>
              <a:t>Spend extra retrieval calls only when the first evidence set appears insufficient.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5733288"/>
            <a:ext cx="111099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32C6D6"/>
                </a:solidFill>
                <a:latin typeface="Aptos"/>
              </a:rPr>
              <a:t>query → BM25 + embeddings → fusion → reranker → ranked chunks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245352"/>
            <a:ext cx="1110996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A4B8CC"/>
                </a:solidFill>
                <a:latin typeface="Aptos"/>
              </a:rPr>
              <a:t>Parameters: chunks 1,800 chars (300–2,600) • fusion 0.7/0.3 • rerank 30→10 • retry 10→15→20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